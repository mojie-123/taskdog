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E7C7FC-46C9-4687-98B9-C4EB2300C6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BD543F-A150-40F0-988E-2CF536B476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94F1E6-3A6B-4D07-BC5D-53F51D743C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AE62A8-3EAE-499E-A3A3-269E14CFA9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51253D-D768-46F5-AF64-ECACD71403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400BAA-FCFC-41C7-9615-57C50AA0E7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FA4960-90B3-4E36-BF00-823876B11C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BE3BF3-59F4-48FF-8A81-0D4B06C2F7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10FD25-1F3A-4868-BA12-9439457C16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1AD351-1953-4456-A691-EFB6F3B3AF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2345AB-80AD-4D2E-A599-8AC8D147F43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F71888-E946-4C71-A453-8F28767D12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02D7BE-A6C8-40A1-A0C5-4A3147BD98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6A19C0-5CAB-4134-8A3B-FE9F0A6698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24AB8F-5664-4329-BE12-50AC7BF3FE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C82EB9-E6ED-4CCE-8397-FB68F1A45E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032516-52FF-4F82-9311-BB5705A795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14463F-D40F-40D6-A653-A0DED72F2E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AC86E6-03CF-4648-9BA8-FE4DFC00AA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885423-8D56-433E-B4DA-56A86A9773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3FAF7E-49BC-4F4E-B991-F661C60837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C9E199-1BE0-4A9D-BBF1-23D4B44F36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F52B02-9D8B-4F6A-A8DD-FE973796F3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D1D5A6-A95D-44B6-9104-78E6A2853D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C9AEC5-2DB8-4FF9-AA6B-AAB46B8636A5}" type="slidenum">
              <a:rPr b="0" lang="en-US" sz="1200" spc="-1" strike="noStrike">
                <a:solidFill>
                  <a:srgbClr val="8b8b8b"/>
                </a:solidFill>
                <a:latin typeface="等线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单击以编辑标题文本格式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latin typeface="Arial"/>
              </a:rPr>
              <a:t>点击以编辑提纲文本格式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latin typeface="Arial"/>
              </a:rPr>
              <a:t>第二提纲级别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latin typeface="Arial"/>
              </a:rPr>
              <a:t>第三提纲级别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latin typeface="Arial"/>
              </a:rPr>
              <a:t>第四提纲级别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第五提纲级别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第六提纲级别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第七提纲级别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pc="-1" strike="noStrike">
                <a:latin typeface="Arial"/>
              </a:rPr>
              <a:t>单击以编辑标题文本格式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等线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711223-F272-40D7-BE31-FE8FA73B0AFC}" type="slidenum">
              <a:rPr b="0" lang="en-US" sz="1200" spc="-1" strike="noStrike">
                <a:solidFill>
                  <a:srgbClr val="8b8b8b"/>
                </a:solidFill>
                <a:latin typeface="等线"/>
              </a:rPr>
              <a:t>&lt;编号&gt;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latin typeface="Arial"/>
              </a:rPr>
              <a:t>点击以编辑提纲文本格式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latin typeface="Arial"/>
              </a:rPr>
              <a:t>第二提纲级别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latin typeface="Arial"/>
              </a:rPr>
              <a:t>第三提纲级别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latin typeface="Arial"/>
              </a:rPr>
              <a:t>第四提纲级别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第五提纲级别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第六提纲级别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第七提纲级别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3"/>
          <p:cNvSpPr/>
          <p:nvPr/>
        </p:nvSpPr>
        <p:spPr>
          <a:xfrm>
            <a:off x="900000" y="930240"/>
            <a:ext cx="7428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暑期狗加臂工作汇报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80200" y="1800000"/>
            <a:ext cx="9199440" cy="273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任务流程：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1</a:t>
            </a:r>
            <a:r>
              <a:rPr b="0" lang="zh-CN" sz="1800" spc="-1" strike="noStrike">
                <a:latin typeface="Arial"/>
              </a:rPr>
              <a:t>、先实现机器狗本体仿真环境搭建，包括</a:t>
            </a:r>
            <a:r>
              <a:rPr b="0" lang="en-US" sz="1800" spc="-1" strike="noStrike">
                <a:latin typeface="Arial"/>
              </a:rPr>
              <a:t>urdf</a:t>
            </a:r>
            <a:r>
              <a:rPr b="0" lang="zh-CN" sz="1800" spc="-1" strike="noStrike">
                <a:latin typeface="Arial"/>
              </a:rPr>
              <a:t>模型参数导入、传感器配置（可考虑在狗的前背放置</a:t>
            </a:r>
            <a:r>
              <a:rPr b="0" lang="en-US" sz="1800" spc="-1" strike="noStrike">
                <a:latin typeface="Arial"/>
              </a:rPr>
              <a:t>1</a:t>
            </a:r>
            <a:r>
              <a:rPr b="0" lang="zh-CN" sz="1800" spc="-1" strike="noStrike">
                <a:latin typeface="Arial"/>
              </a:rPr>
              <a:t>个 </a:t>
            </a:r>
            <a:r>
              <a:rPr b="0" lang="en-US" sz="1800" spc="-1" strike="noStrike">
                <a:latin typeface="Arial"/>
              </a:rPr>
              <a:t>livox mid360</a:t>
            </a:r>
            <a:r>
              <a:rPr b="0" lang="zh-CN" sz="1800" spc="-1" strike="noStrike">
                <a:latin typeface="Arial"/>
              </a:rPr>
              <a:t>激光雷达）；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2</a:t>
            </a:r>
            <a:r>
              <a:rPr b="0" lang="zh-CN" sz="1800" spc="-1" strike="noStrike">
                <a:latin typeface="Arial"/>
              </a:rPr>
              <a:t>、添加机器狗导航功能，可参考</a:t>
            </a:r>
            <a:r>
              <a:rPr b="0" lang="en-US" sz="1800" spc="-1" strike="noStrike">
                <a:latin typeface="Arial"/>
              </a:rPr>
              <a:t>nav2</a:t>
            </a:r>
            <a:r>
              <a:rPr b="0" lang="zh-CN" sz="1800" spc="-1" strike="noStrike">
                <a:latin typeface="Arial"/>
              </a:rPr>
              <a:t>经典</a:t>
            </a:r>
            <a:r>
              <a:rPr b="0" lang="en-US" sz="1800" spc="-1" strike="noStrike">
                <a:latin typeface="Arial"/>
              </a:rPr>
              <a:t>2D</a:t>
            </a:r>
            <a:r>
              <a:rPr b="0" lang="zh-CN" sz="1800" spc="-1" strike="noStrike">
                <a:latin typeface="Arial"/>
              </a:rPr>
              <a:t>导航框架，实现点到点的导航；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3</a:t>
            </a:r>
            <a:r>
              <a:rPr b="0" lang="zh-CN" sz="1800" spc="-1" strike="noStrike">
                <a:latin typeface="Arial"/>
              </a:rPr>
              <a:t>、添加机械臂模型，在此基础上，在机器狗后背放置机械臂，机械臂末端放置</a:t>
            </a:r>
            <a:r>
              <a:rPr b="0" lang="en-US" sz="1800" spc="-1" strike="noStrike">
                <a:latin typeface="Arial"/>
              </a:rPr>
              <a:t>1</a:t>
            </a:r>
            <a:r>
              <a:rPr b="0" lang="zh-CN" sz="1800" spc="-1" strike="noStrike">
                <a:latin typeface="Arial"/>
              </a:rPr>
              <a:t>个</a:t>
            </a:r>
            <a:r>
              <a:rPr b="0" lang="en-US" sz="1800" spc="-1" strike="noStrike">
                <a:latin typeface="Arial"/>
              </a:rPr>
              <a:t>realsense</a:t>
            </a:r>
            <a:r>
              <a:rPr b="0" lang="zh-CN" sz="1800" spc="-1" strike="noStrike">
                <a:latin typeface="Arial"/>
              </a:rPr>
              <a:t>双目深度相机；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4</a:t>
            </a:r>
            <a:r>
              <a:rPr b="0" lang="zh-CN" sz="1800" spc="-1" strike="noStrike">
                <a:latin typeface="Arial"/>
              </a:rPr>
              <a:t>、添加抓取点识别算法，可参考</a:t>
            </a:r>
            <a:r>
              <a:rPr b="0" lang="en-US" sz="1800" spc="-1" strike="noStrike">
                <a:latin typeface="Arial"/>
              </a:rPr>
              <a:t>AnyGrasp</a:t>
            </a:r>
            <a:r>
              <a:rPr b="0" lang="zh-CN" sz="1800" spc="-1" strike="noStrike">
                <a:latin typeface="Arial"/>
              </a:rPr>
              <a:t>算法；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5</a:t>
            </a:r>
            <a:r>
              <a:rPr b="0" lang="zh-CN" sz="1800" spc="-1" strike="noStrike">
                <a:latin typeface="Arial"/>
              </a:rPr>
              <a:t>、添加机械臂运控算法，包括逆运动学求解、轨迹规划、夹爪控制。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文本框 3"/>
          <p:cNvSpPr/>
          <p:nvPr/>
        </p:nvSpPr>
        <p:spPr>
          <a:xfrm>
            <a:off x="720000" y="68544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800000" y="1553760"/>
            <a:ext cx="8279640" cy="47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 </a:t>
            </a:r>
            <a:r>
              <a:rPr b="0" lang="zh-CN" sz="1800" spc="-1" strike="noStrike">
                <a:latin typeface="Arial"/>
              </a:rPr>
              <a:t>获取需要的</a:t>
            </a:r>
            <a:r>
              <a:rPr b="0" lang="en-US" sz="1800" spc="-1" strike="noStrike">
                <a:latin typeface="Arial"/>
              </a:rPr>
              <a:t>urdf/usd</a:t>
            </a:r>
            <a:r>
              <a:rPr b="0" lang="zh-CN" sz="1800" spc="-1" strike="noStrike">
                <a:latin typeface="Arial"/>
              </a:rPr>
              <a:t>文件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#### </a:t>
            </a:r>
            <a:r>
              <a:rPr b="0" lang="zh-CN" sz="1800" spc="-1" strike="noStrike">
                <a:latin typeface="Arial"/>
              </a:rPr>
              <a:t>从官网下载</a:t>
            </a:r>
            <a:r>
              <a:rPr b="0" lang="en-US" sz="1800" spc="-1" strike="noStrike">
                <a:latin typeface="Arial"/>
              </a:rPr>
              <a:t>deep_robotics_model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里面有</a:t>
            </a:r>
            <a:r>
              <a:rPr b="0" lang="en-US" sz="1800" spc="-1" strike="noStrike">
                <a:latin typeface="Arial"/>
              </a:rPr>
              <a:t>M20</a:t>
            </a:r>
            <a:r>
              <a:rPr b="0" lang="zh-CN" sz="1800" spc="-1" strike="noStrike">
                <a:latin typeface="Arial"/>
              </a:rPr>
              <a:t>和</a:t>
            </a:r>
            <a:r>
              <a:rPr b="0" lang="en-US" sz="1800" spc="-1" strike="noStrike">
                <a:latin typeface="Arial"/>
              </a:rPr>
              <a:t>M20_Piper</a:t>
            </a:r>
            <a:r>
              <a:rPr b="0" lang="zh-CN" sz="1800" spc="-1" strike="noStrike">
                <a:latin typeface="Arial"/>
              </a:rPr>
              <a:t>的</a:t>
            </a:r>
            <a:r>
              <a:rPr b="0" lang="en-US" sz="1800" spc="-1" strike="noStrike">
                <a:latin typeface="Arial"/>
              </a:rPr>
              <a:t>urdf/usd</a:t>
            </a:r>
            <a:r>
              <a:rPr b="0" lang="zh-CN" sz="1800" spc="-1" strike="noStrike">
                <a:latin typeface="Arial"/>
              </a:rPr>
              <a:t>文件，经查阅确认</a:t>
            </a:r>
            <a:r>
              <a:rPr b="0" lang="en-US" sz="1800" spc="-1" strike="noStrike">
                <a:latin typeface="Arial"/>
              </a:rPr>
              <a:t>M20Pro</a:t>
            </a:r>
            <a:r>
              <a:rPr b="0" lang="zh-CN" sz="1800" spc="-1" strike="noStrike">
                <a:latin typeface="Arial"/>
              </a:rPr>
              <a:t>和</a:t>
            </a:r>
            <a:r>
              <a:rPr b="0" lang="en-US" sz="1800" spc="-1" strike="noStrike">
                <a:latin typeface="Arial"/>
              </a:rPr>
              <a:t>M20</a:t>
            </a:r>
            <a:r>
              <a:rPr b="0" lang="zh-CN" sz="1800" spc="-1" strike="noStrike">
                <a:latin typeface="Arial"/>
              </a:rPr>
              <a:t>的模型是相同的。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</a:t>
            </a:r>
            <a:r>
              <a:rPr b="0" lang="en-US" sz="1800" spc="-1" strike="noStrike">
                <a:latin typeface="Arial"/>
              </a:rPr>
              <a:t>M20_Piper</a:t>
            </a:r>
            <a:r>
              <a:rPr b="0" lang="zh-CN" sz="1800" spc="-1" strike="noStrike">
                <a:latin typeface="Arial"/>
              </a:rPr>
              <a:t>图和</a:t>
            </a:r>
            <a:r>
              <a:rPr b="0" lang="en-US" sz="1800" spc="-1" strike="noStrike">
                <a:latin typeface="Arial"/>
              </a:rPr>
              <a:t>Piper</a:t>
            </a:r>
            <a:r>
              <a:rPr b="0" lang="zh-CN" sz="1800" spc="-1" strike="noStrike">
                <a:latin typeface="Arial"/>
              </a:rPr>
              <a:t>图】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由于</a:t>
            </a:r>
            <a:r>
              <a:rPr b="0" lang="en-US" sz="1800" spc="-1" strike="noStrike">
                <a:latin typeface="Arial"/>
              </a:rPr>
              <a:t>M20_Piper</a:t>
            </a:r>
            <a:r>
              <a:rPr b="0" lang="zh-CN" sz="1800" spc="-1" strike="noStrike">
                <a:latin typeface="Arial"/>
              </a:rPr>
              <a:t>模型中</a:t>
            </a:r>
            <a:r>
              <a:rPr b="0" lang="en-US" sz="1800" spc="-1" strike="noStrike">
                <a:latin typeface="Arial"/>
              </a:rPr>
              <a:t>Piper</a:t>
            </a:r>
            <a:r>
              <a:rPr b="0" lang="zh-CN" sz="1800" spc="-1" strike="noStrike">
                <a:latin typeface="Arial"/>
              </a:rPr>
              <a:t>部分的碰撞网格较复杂，笔记本显存不够，所以进行了处理：仅保留夹爪手指部分的精确碰撞网格（比原本的</a:t>
            </a:r>
            <a:r>
              <a:rPr b="0" lang="en-US" sz="1800" spc="-1" strike="noStrike">
                <a:latin typeface="Arial"/>
              </a:rPr>
              <a:t>M20_Piper</a:t>
            </a:r>
            <a:r>
              <a:rPr b="0" lang="zh-CN" sz="1800" spc="-1" strike="noStrike">
                <a:latin typeface="Arial"/>
              </a:rPr>
              <a:t>更精确，原本的</a:t>
            </a:r>
            <a:r>
              <a:rPr b="0" lang="en-US" sz="1800" spc="-1" strike="noStrike">
                <a:latin typeface="Arial"/>
              </a:rPr>
              <a:t>usd</a:t>
            </a:r>
            <a:r>
              <a:rPr b="0" lang="zh-CN" sz="1800" spc="-1" strike="noStrike">
                <a:latin typeface="Arial"/>
              </a:rPr>
              <a:t>使用的是</a:t>
            </a:r>
            <a:r>
              <a:rPr b="0" lang="en-US" sz="1800" spc="-1" strike="noStrike">
                <a:latin typeface="Arial"/>
              </a:rPr>
              <a:t>convexHull</a:t>
            </a:r>
            <a:r>
              <a:rPr b="0" lang="zh-CN" sz="1800" spc="-1" strike="noStrike">
                <a:latin typeface="Arial"/>
              </a:rPr>
              <a:t>，我们把手指部分用</a:t>
            </a:r>
            <a:r>
              <a:rPr b="0" lang="en-US" sz="1800" spc="-1" strike="noStrike">
                <a:latin typeface="Arial"/>
              </a:rPr>
              <a:t>convexDecomposition</a:t>
            </a:r>
            <a:r>
              <a:rPr b="0" lang="zh-CN" sz="1800" spc="-1" strike="noStrike">
                <a:latin typeface="Arial"/>
              </a:rPr>
              <a:t>）。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【插对比图】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#### </a:t>
            </a:r>
            <a:r>
              <a:rPr b="0" lang="zh-CN" sz="1800" spc="-1" strike="noStrike">
                <a:latin typeface="Arial"/>
              </a:rPr>
              <a:t>从之前做过的项目中拿香蕉的</a:t>
            </a:r>
            <a:r>
              <a:rPr b="0" lang="en-US" sz="1800" spc="-1" strike="noStrike">
                <a:latin typeface="Arial"/>
              </a:rPr>
              <a:t>usd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【插香蕉对比图，并且说明我们对原本的香蕉做了什么改变】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#### </a:t>
            </a:r>
            <a:r>
              <a:rPr b="0" lang="zh-CN" sz="1800" spc="-1" strike="noStrike">
                <a:latin typeface="Arial"/>
              </a:rPr>
              <a:t>从之前做过的项目中拿桌子的</a:t>
            </a:r>
            <a:r>
              <a:rPr b="0" lang="en-US" sz="1800" spc="-1" strike="noStrike">
                <a:latin typeface="Arial"/>
              </a:rPr>
              <a:t>usd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【插桌子图，并且说明对它进行了适当缩放】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12"/>
          <p:cNvSpPr/>
          <p:nvPr/>
        </p:nvSpPr>
        <p:spPr>
          <a:xfrm>
            <a:off x="720000" y="68544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800000" y="1553760"/>
            <a:ext cx="8279640" cy="47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 </a:t>
            </a:r>
            <a:r>
              <a:rPr b="0" lang="zh-CN" sz="1800" spc="-1" strike="noStrike">
                <a:latin typeface="Arial"/>
              </a:rPr>
              <a:t>获取需要的</a:t>
            </a:r>
            <a:r>
              <a:rPr b="0" lang="en-US" sz="1800" spc="-1" strike="noStrike">
                <a:latin typeface="Arial"/>
              </a:rPr>
              <a:t>urdf/usd</a:t>
            </a:r>
            <a:r>
              <a:rPr b="0" lang="zh-CN" sz="1800" spc="-1" strike="noStrike">
                <a:latin typeface="Arial"/>
              </a:rPr>
              <a:t>文件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#### </a:t>
            </a:r>
            <a:r>
              <a:rPr b="0" lang="zh-CN" sz="1800" spc="-1" strike="noStrike">
                <a:latin typeface="Arial"/>
              </a:rPr>
              <a:t>从之前做过的项目中拿香蕉的</a:t>
            </a:r>
            <a:r>
              <a:rPr b="0" lang="en-US" sz="1800" spc="-1" strike="noStrike">
                <a:latin typeface="Arial"/>
              </a:rPr>
              <a:t>usd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【插香蕉对比图，并且说明我们对原本的香蕉做了什么改变】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#### </a:t>
            </a:r>
            <a:r>
              <a:rPr b="0" lang="zh-CN" sz="1800" spc="-1" strike="noStrike">
                <a:latin typeface="Arial"/>
              </a:rPr>
              <a:t>从之前做过的项目中拿桌子的</a:t>
            </a:r>
            <a:r>
              <a:rPr b="0" lang="en-US" sz="1800" spc="-1" strike="noStrike">
                <a:latin typeface="Arial"/>
              </a:rPr>
              <a:t>usd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【插桌子图，并且说明对它进行了适当缩放】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文本框 4"/>
          <p:cNvSpPr/>
          <p:nvPr/>
        </p:nvSpPr>
        <p:spPr>
          <a:xfrm>
            <a:off x="851040" y="53496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440000" y="1620000"/>
            <a:ext cx="95799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 </a:t>
            </a:r>
            <a:r>
              <a:rPr b="0" lang="zh-CN" sz="1800" spc="-1" strike="noStrike">
                <a:latin typeface="Arial"/>
              </a:rPr>
              <a:t>配置传感器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【插雷达</a:t>
            </a:r>
            <a:r>
              <a:rPr b="0" lang="en-US" sz="1800" spc="-1" strike="noStrike">
                <a:latin typeface="Arial"/>
              </a:rPr>
              <a:t>env</a:t>
            </a:r>
            <a:r>
              <a:rPr b="0" lang="zh-CN" sz="1800" spc="-1" strike="noStrike">
                <a:latin typeface="Arial"/>
              </a:rPr>
              <a:t>中的配置图和雷达的配置，说明射线稀疏的原因，这也是给物体垫桌子的原因】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1"/>
          <p:cNvSpPr/>
          <p:nvPr/>
        </p:nvSpPr>
        <p:spPr>
          <a:xfrm>
            <a:off x="851040" y="53496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089360" y="1440000"/>
            <a:ext cx="10430280" cy="41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 </a:t>
            </a:r>
            <a:r>
              <a:rPr b="0" lang="zh-CN" sz="1800" spc="-1" strike="noStrike">
                <a:latin typeface="Arial"/>
              </a:rPr>
              <a:t>添加导航模块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导航模块由</a:t>
            </a:r>
            <a:r>
              <a:rPr b="0" lang="en-US" sz="1800" spc="-1" strike="noStrike">
                <a:latin typeface="Arial"/>
              </a:rPr>
              <a:t>3</a:t>
            </a:r>
            <a:r>
              <a:rPr b="0" lang="zh-CN" sz="1800" spc="-1" strike="noStrike">
                <a:latin typeface="Arial"/>
              </a:rPr>
              <a:t>步组成：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手动建图【插图表示使用官方</a:t>
            </a:r>
            <a:r>
              <a:rPr b="0" lang="en-US" sz="1800" spc="-1" strike="noStrike">
                <a:latin typeface="Arial"/>
              </a:rPr>
              <a:t>rl_training</a:t>
            </a:r>
            <a:r>
              <a:rPr b="0" lang="zh-CN" sz="1800" spc="-1" strike="noStrike">
                <a:latin typeface="Arial"/>
              </a:rPr>
              <a:t>仓库已经获得了具有指令运动的机器狗】，获得点云</a:t>
            </a:r>
            <a:r>
              <a:rPr b="0" lang="en-US" sz="1800" spc="-1" strike="noStrike">
                <a:latin typeface="Arial"/>
              </a:rPr>
              <a:t>&amp;</a:t>
            </a:r>
            <a:r>
              <a:rPr b="0" lang="zh-CN" sz="1800" spc="-1" strike="noStrike">
                <a:latin typeface="Arial"/>
              </a:rPr>
              <a:t>栅格地图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navigate_to_goal.py</a:t>
            </a:r>
            <a:r>
              <a:rPr b="0" lang="zh-CN" sz="1800" spc="-1" strike="noStrike">
                <a:latin typeface="Arial"/>
              </a:rPr>
              <a:t>脚本中边规划路径边执行【插图</a:t>
            </a:r>
            <a:r>
              <a:rPr b="0" lang="en-US" sz="1800" spc="-1" strike="noStrike">
                <a:latin typeface="Arial"/>
              </a:rPr>
              <a:t>nav_process</a:t>
            </a:r>
            <a:r>
              <a:rPr b="0" lang="zh-CN" sz="1800" spc="-1" strike="noStrike">
                <a:latin typeface="Arial"/>
              </a:rPr>
              <a:t>】，其中路径规划部分手写</a:t>
            </a:r>
            <a:r>
              <a:rPr b="0" lang="en-US" sz="1800" spc="-1" strike="noStrike">
                <a:latin typeface="Arial"/>
              </a:rPr>
              <a:t>astar</a:t>
            </a:r>
            <a:r>
              <a:rPr b="0" lang="zh-CN" sz="1800" spc="-1" strike="noStrike">
                <a:latin typeface="Arial"/>
              </a:rPr>
              <a:t>算法，借鉴了</a:t>
            </a:r>
            <a:r>
              <a:rPr b="0" lang="en-US" sz="1800" spc="-1" strike="noStrike">
                <a:latin typeface="Arial"/>
              </a:rPr>
              <a:t>Nav2</a:t>
            </a:r>
            <a:r>
              <a:rPr b="0" lang="zh-CN" sz="1800" spc="-1" strike="noStrike">
                <a:latin typeface="Arial"/>
              </a:rPr>
              <a:t>框架中的局部路径跟踪控制器、维护代价地图等。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文本框 2"/>
          <p:cNvSpPr/>
          <p:nvPr/>
        </p:nvSpPr>
        <p:spPr>
          <a:xfrm>
            <a:off x="851040" y="53496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440000" y="1620000"/>
            <a:ext cx="9488880" cy="14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 </a:t>
            </a:r>
            <a:r>
              <a:rPr b="0" lang="zh-CN" sz="1800" spc="-1" strike="noStrike">
                <a:latin typeface="Arial"/>
              </a:rPr>
              <a:t>添加机械臂及双目深度相机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机械臂部分用基础几何体代替原本的</a:t>
            </a:r>
            <a:r>
              <a:rPr b="0" lang="en-US" sz="1800" spc="-1" strike="noStrike">
                <a:latin typeface="Arial"/>
              </a:rPr>
              <a:t>stl</a:t>
            </a:r>
            <a:r>
              <a:rPr b="0" lang="zh-CN" sz="1800" spc="-1" strike="noStrike">
                <a:latin typeface="Arial"/>
              </a:rPr>
              <a:t>直接导出的轮廓（除了夹爪手指部分保留）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双目深度相机安装注意与</a:t>
            </a:r>
            <a:r>
              <a:rPr b="0" lang="en-US" sz="1800" spc="-1" strike="noStrike">
                <a:latin typeface="Arial"/>
              </a:rPr>
              <a:t>gripper_base</a:t>
            </a:r>
            <a:r>
              <a:rPr b="0" lang="zh-CN" sz="1800" spc="-1" strike="noStrike">
                <a:latin typeface="Arial"/>
              </a:rPr>
              <a:t>的相对位置和旋转【插几张</a:t>
            </a:r>
            <a:r>
              <a:rPr b="0" lang="en-US" sz="1800" spc="-1" strike="noStrike">
                <a:latin typeface="Arial"/>
              </a:rPr>
              <a:t>tmp_pictures/</a:t>
            </a:r>
            <a:r>
              <a:rPr b="0" lang="zh-CN" sz="1800" spc="-1" strike="noStrike">
                <a:latin typeface="Arial"/>
              </a:rPr>
              <a:t>下的图表示相机看到的画面】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 5"/>
          <p:cNvSpPr/>
          <p:nvPr/>
        </p:nvSpPr>
        <p:spPr>
          <a:xfrm>
            <a:off x="851040" y="53496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440000" y="1620000"/>
            <a:ext cx="9537480" cy="30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 </a:t>
            </a:r>
            <a:r>
              <a:rPr b="0" lang="zh-CN" sz="1800" spc="-1" strike="noStrike">
                <a:latin typeface="Arial"/>
              </a:rPr>
              <a:t>添加</a:t>
            </a:r>
            <a:r>
              <a:rPr b="0" lang="en-US" sz="1800" spc="-1" strike="noStrike">
                <a:latin typeface="Arial"/>
              </a:rPr>
              <a:t>Anygrasp</a:t>
            </a:r>
            <a:r>
              <a:rPr b="0" lang="zh-CN" sz="1800" spc="-1" strike="noStrike">
                <a:latin typeface="Arial"/>
              </a:rPr>
              <a:t>算法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阅读学习了</a:t>
            </a:r>
            <a:r>
              <a:rPr b="0" lang="en-US" sz="1800" spc="-1" strike="noStrike">
                <a:latin typeface="Arial"/>
              </a:rPr>
              <a:t>PointNet</a:t>
            </a:r>
            <a:r>
              <a:rPr b="0" lang="zh-CN" sz="1800" spc="-1" strike="noStrike">
                <a:latin typeface="Arial"/>
              </a:rPr>
              <a:t>、</a:t>
            </a:r>
            <a:r>
              <a:rPr b="0" lang="en-US" sz="1800" spc="-1" strike="noStrike">
                <a:latin typeface="Arial"/>
              </a:rPr>
              <a:t>PointNet++</a:t>
            </a:r>
            <a:r>
              <a:rPr b="0" lang="zh-CN" sz="1800" spc="-1" strike="noStrike">
                <a:latin typeface="Arial"/>
              </a:rPr>
              <a:t>、</a:t>
            </a:r>
            <a:r>
              <a:rPr b="0" lang="en-US" sz="1800" spc="-1" strike="noStrike">
                <a:latin typeface="Arial"/>
              </a:rPr>
              <a:t>GrsapNet-1Billion</a:t>
            </a:r>
            <a:r>
              <a:rPr b="0" lang="zh-CN" sz="1800" spc="-1" strike="noStrike">
                <a:latin typeface="Arial"/>
              </a:rPr>
              <a:t>、</a:t>
            </a:r>
            <a:r>
              <a:rPr b="0" lang="en-US" sz="1800" spc="-1" strike="noStrike">
                <a:latin typeface="Arial"/>
              </a:rPr>
              <a:t>Anygrasp</a:t>
            </a:r>
            <a:r>
              <a:rPr b="0" lang="zh-CN" sz="1800" spc="-1" strike="noStrike">
                <a:latin typeface="Arial"/>
              </a:rPr>
              <a:t>的论文【可插笔记图】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主要是安装它的</a:t>
            </a:r>
            <a:r>
              <a:rPr b="0" lang="en-US" sz="1800" spc="-1" strike="noStrike">
                <a:latin typeface="Arial"/>
              </a:rPr>
              <a:t>sdk</a:t>
            </a:r>
            <a:r>
              <a:rPr b="0" lang="zh-CN" sz="1800" spc="-1" strike="noStrike">
                <a:latin typeface="Arial"/>
              </a:rPr>
              <a:t>然后就可以直接使用，注意它的输出（</a:t>
            </a:r>
            <a:r>
              <a:rPr b="0" lang="en-US" sz="1800" spc="-1" strike="noStrike">
                <a:latin typeface="Arial"/>
              </a:rPr>
              <a:t>x</a:t>
            </a:r>
            <a:r>
              <a:rPr b="0" lang="zh-CN" sz="1800" spc="-1" strike="noStrike">
                <a:latin typeface="Arial"/>
              </a:rPr>
              <a:t>轴对应</a:t>
            </a:r>
            <a:r>
              <a:rPr b="0" lang="en-US" sz="1800" spc="-1" strike="noStrike">
                <a:latin typeface="Arial"/>
              </a:rPr>
              <a:t>approach</a:t>
            </a:r>
            <a:r>
              <a:rPr b="0" lang="zh-CN" sz="1800" spc="-1" strike="noStrike">
                <a:latin typeface="Arial"/>
              </a:rPr>
              <a:t>轴，</a:t>
            </a:r>
            <a:r>
              <a:rPr b="0" lang="en-US" sz="1800" spc="-1" strike="noStrike">
                <a:latin typeface="Arial"/>
              </a:rPr>
              <a:t>y</a:t>
            </a:r>
            <a:r>
              <a:rPr b="0" lang="zh-CN" sz="1800" spc="-1" strike="noStrike">
                <a:latin typeface="Arial"/>
              </a:rPr>
              <a:t>轴是</a:t>
            </a:r>
            <a:r>
              <a:rPr b="0" lang="en-US" sz="1800" spc="-1" strike="noStrike">
                <a:latin typeface="Arial"/>
              </a:rPr>
              <a:t>closing</a:t>
            </a:r>
            <a:r>
              <a:rPr b="0" lang="zh-CN" sz="1800" spc="-1" strike="noStrike">
                <a:latin typeface="Arial"/>
              </a:rPr>
              <a:t>轴）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解的选择：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把点云喂给</a:t>
            </a:r>
            <a:r>
              <a:rPr b="0" lang="en-US" sz="1800" spc="-1" strike="noStrike">
                <a:latin typeface="Arial"/>
              </a:rPr>
              <a:t>Anygrasp</a:t>
            </a:r>
            <a:r>
              <a:rPr b="0" lang="zh-CN" sz="1800" spc="-1" strike="noStrike">
                <a:latin typeface="Arial"/>
              </a:rPr>
              <a:t>之前先处理掉桌面点防止没有竖直抓取的解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利用香蕉颜色先粗筛目标抓取点在香蕉上的解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同时考虑抓取的</a:t>
            </a:r>
            <a:r>
              <a:rPr b="0" lang="en-US" sz="1800" spc="-1" strike="noStrike">
                <a:latin typeface="Arial"/>
              </a:rPr>
              <a:t>ik</a:t>
            </a:r>
            <a:r>
              <a:rPr b="0" lang="zh-CN" sz="1800" spc="-1" strike="noStrike">
                <a:latin typeface="Arial"/>
              </a:rPr>
              <a:t>可解、竖直程度、得分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文本框 6"/>
          <p:cNvSpPr/>
          <p:nvPr/>
        </p:nvSpPr>
        <p:spPr>
          <a:xfrm>
            <a:off x="851040" y="53496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92080" y="1620000"/>
            <a:ext cx="1026756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### </a:t>
            </a:r>
            <a:r>
              <a:rPr b="0" lang="zh-CN" sz="1800" spc="-1" strike="noStrike">
                <a:latin typeface="Arial"/>
              </a:rPr>
              <a:t>机械臂控制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【插分析的机械臂的</a:t>
            </a:r>
            <a:r>
              <a:rPr b="0" lang="en-US" sz="1800" spc="-1" strike="noStrike">
                <a:latin typeface="Arial"/>
              </a:rPr>
              <a:t>joint</a:t>
            </a:r>
            <a:r>
              <a:rPr b="0" lang="zh-CN" sz="1800" spc="-1" strike="noStrike">
                <a:latin typeface="Arial"/>
              </a:rPr>
              <a:t>、</a:t>
            </a:r>
            <a:r>
              <a:rPr b="0" lang="en-US" sz="1800" spc="-1" strike="noStrike">
                <a:latin typeface="Arial"/>
              </a:rPr>
              <a:t>body</a:t>
            </a:r>
            <a:r>
              <a:rPr b="0" lang="zh-CN" sz="1800" spc="-1" strike="noStrike">
                <a:latin typeface="Arial"/>
              </a:rPr>
              <a:t>以及各种坐标系的图】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难点</a:t>
            </a:r>
            <a:r>
              <a:rPr b="0" lang="en-US" sz="1800" spc="-1" strike="noStrike">
                <a:latin typeface="Arial"/>
              </a:rPr>
              <a:t>1</a:t>
            </a:r>
            <a:r>
              <a:rPr b="0" lang="zh-CN" sz="1800" spc="-1" strike="noStrike">
                <a:latin typeface="Arial"/>
              </a:rPr>
              <a:t>：</a:t>
            </a:r>
            <a:r>
              <a:rPr b="0" lang="en-US" sz="1800" spc="-1" strike="noStrike">
                <a:latin typeface="Arial"/>
              </a:rPr>
              <a:t>ik</a:t>
            </a:r>
            <a:r>
              <a:rPr b="0" lang="zh-CN" sz="1800" spc="-1" strike="noStrike">
                <a:latin typeface="Arial"/>
              </a:rPr>
              <a:t>求解，并且要能选出合理的解（考虑位置误差、关节限位、跳变、平滑性）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难点</a:t>
            </a:r>
            <a:r>
              <a:rPr b="0" lang="en-US" sz="1800" spc="-1" strike="noStrike">
                <a:latin typeface="Arial"/>
              </a:rPr>
              <a:t>2</a:t>
            </a:r>
            <a:r>
              <a:rPr b="0" lang="zh-CN" sz="1800" spc="-1" strike="noStrike">
                <a:latin typeface="Arial"/>
              </a:rPr>
              <a:t>：</a:t>
            </a:r>
            <a:r>
              <a:rPr b="0" lang="en-US" sz="1800" spc="-1" strike="noStrike">
                <a:latin typeface="Arial"/>
              </a:rPr>
              <a:t>gripper_base</a:t>
            </a:r>
            <a:r>
              <a:rPr b="0" lang="zh-CN" sz="1800" spc="-1" strike="noStrike">
                <a:latin typeface="Arial"/>
              </a:rPr>
              <a:t>、</a:t>
            </a:r>
            <a:r>
              <a:rPr b="0" lang="en-US" sz="1800" spc="-1" strike="noStrike">
                <a:latin typeface="Arial"/>
              </a:rPr>
              <a:t>j7j8</a:t>
            </a:r>
            <a:r>
              <a:rPr b="0" lang="zh-CN" sz="1800" spc="-1" strike="noStrike">
                <a:latin typeface="Arial"/>
              </a:rPr>
              <a:t>（手指）、相机、</a:t>
            </a:r>
            <a:r>
              <a:rPr b="0" lang="en-US" sz="1800" spc="-1" strike="noStrike">
                <a:latin typeface="Arial"/>
              </a:rPr>
              <a:t>Anygrasp</a:t>
            </a:r>
            <a:r>
              <a:rPr b="0" lang="zh-CN" sz="1800" spc="-1" strike="noStrike">
                <a:latin typeface="Arial"/>
              </a:rPr>
              <a:t>的坐标系、</a:t>
            </a:r>
            <a:r>
              <a:rPr b="0" lang="en-US" sz="1800" spc="-1" strike="noStrike">
                <a:latin typeface="Arial"/>
              </a:rPr>
              <a:t>arm_base</a:t>
            </a:r>
            <a:r>
              <a:rPr b="0" lang="zh-CN" sz="1800" spc="-1" strike="noStrike">
                <a:latin typeface="Arial"/>
              </a:rPr>
              <a:t>、机器狗</a:t>
            </a:r>
            <a:r>
              <a:rPr b="0" lang="en-US" sz="1800" spc="-1" strike="noStrike">
                <a:latin typeface="Arial"/>
              </a:rPr>
              <a:t>base_link</a:t>
            </a:r>
            <a:r>
              <a:rPr b="0" lang="zh-CN" sz="1800" spc="-1" strike="noStrike">
                <a:latin typeface="Arial"/>
              </a:rPr>
              <a:t>、世界坐标系的转换关系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文本框 7"/>
          <p:cNvSpPr/>
          <p:nvPr/>
        </p:nvSpPr>
        <p:spPr>
          <a:xfrm>
            <a:off x="851040" y="53496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440000" y="1620000"/>
            <a:ext cx="3380760" cy="7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状态机设置（整个任务串起来）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800" spc="-1" strike="noStrike">
                <a:latin typeface="Arial"/>
              </a:rPr>
              <a:t>【插状态机截图】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8"/>
          <p:cNvSpPr/>
          <p:nvPr/>
        </p:nvSpPr>
        <p:spPr>
          <a:xfrm>
            <a:off x="682200" y="50544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工作情况（状态机导航阶段）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80000" y="812520"/>
            <a:ext cx="11339640" cy="60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**NAV**</a:t>
            </a:r>
            <a:r>
              <a:rPr b="0" lang="zh-CN" sz="1800" spc="-1" strike="noStrike">
                <a:latin typeface="Arial"/>
              </a:rPr>
              <a:t>：驱动机器人从起点移动到目标点，使用 </a:t>
            </a:r>
            <a:r>
              <a:rPr b="0" lang="en-US" sz="1800" spc="-1" strike="noStrike">
                <a:latin typeface="Arial"/>
              </a:rPr>
              <a:t>astar </a:t>
            </a:r>
            <a:r>
              <a:rPr b="0" lang="zh-CN" sz="1800" spc="-1" strike="noStrike">
                <a:latin typeface="Arial"/>
              </a:rPr>
              <a:t>路径规划 </a:t>
            </a:r>
            <a:r>
              <a:rPr b="0" lang="en-US" sz="1800" spc="-1" strike="noStrike">
                <a:latin typeface="Arial"/>
              </a:rPr>
              <a:t>+ Pure Pursuit </a:t>
            </a:r>
            <a:r>
              <a:rPr b="0" lang="zh-CN" sz="1800" spc="-1" strike="noStrike">
                <a:latin typeface="Arial"/>
              </a:rPr>
              <a:t>跟踪 </a:t>
            </a:r>
            <a:r>
              <a:rPr b="0" lang="en-US" sz="1800" spc="-1" strike="noStrike">
                <a:latin typeface="Arial"/>
              </a:rPr>
              <a:t>+ </a:t>
            </a:r>
            <a:r>
              <a:rPr b="0" lang="zh-CN" sz="1800" spc="-1" strike="noStrike">
                <a:latin typeface="Arial"/>
              </a:rPr>
              <a:t>策略网络执行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定期重规划路径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获取膨胀后的二值地图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坐标转换：世界坐标</a:t>
            </a:r>
            <a:r>
              <a:rPr b="0" lang="en-US" sz="1800" spc="-1" strike="noStrike">
                <a:latin typeface="Arial"/>
              </a:rPr>
              <a:t>-&gt;</a:t>
            </a:r>
            <a:r>
              <a:rPr b="0" lang="zh-CN" sz="1800" spc="-1" strike="noStrike">
                <a:latin typeface="Arial"/>
              </a:rPr>
              <a:t>栅格坐标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清除起点和终点周围的障碍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astar</a:t>
            </a:r>
            <a:r>
              <a:rPr b="0" lang="zh-CN" sz="1800" spc="-1" strike="noStrike">
                <a:latin typeface="Arial"/>
              </a:rPr>
              <a:t>路径规划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计算到目标的距离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    </a:t>
            </a:r>
            <a:r>
              <a:rPr b="0" lang="en-US" sz="1800" spc="-1" strike="noStrike">
                <a:latin typeface="Arial"/>
              </a:rPr>
              <a:t>* \&gt;1.5m</a:t>
            </a:r>
            <a:r>
              <a:rPr b="0" lang="zh-CN" sz="1800" spc="-1" strike="noStrike">
                <a:latin typeface="Arial"/>
              </a:rPr>
              <a:t>：</a:t>
            </a:r>
            <a:r>
              <a:rPr b="0" lang="en-US" sz="1800" spc="-1" strike="noStrike">
                <a:latin typeface="Arial"/>
              </a:rPr>
              <a:t>Pure Pursuit</a:t>
            </a:r>
            <a:r>
              <a:rPr b="0" lang="zh-CN" sz="1800" spc="-1" strike="noStrike">
                <a:latin typeface="Arial"/>
              </a:rPr>
              <a:t>跟踪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    </a:t>
            </a:r>
            <a:r>
              <a:rPr b="0" lang="en-US" sz="1800" spc="-1" strike="noStrike">
                <a:latin typeface="Arial"/>
              </a:rPr>
              <a:t>* 1.5m~3.0m</a:t>
            </a:r>
            <a:r>
              <a:rPr b="0" lang="zh-CN" sz="1800" spc="-1" strike="noStrike">
                <a:latin typeface="Arial"/>
              </a:rPr>
              <a:t>：</a:t>
            </a:r>
            <a:r>
              <a:rPr b="0" lang="en-US" sz="1800" spc="-1" strike="noStrike">
                <a:latin typeface="Arial"/>
              </a:rPr>
              <a:t>Pure Pursuit + </a:t>
            </a:r>
            <a:r>
              <a:rPr b="0" lang="zh-CN" sz="1800" spc="-1" strike="noStrike">
                <a:latin typeface="Arial"/>
              </a:rPr>
              <a:t>朝向混合，这样让机器狗提前转向，使其大致面向正确的方向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    </a:t>
            </a:r>
            <a:r>
              <a:rPr b="0" lang="en-US" sz="1800" spc="-1" strike="noStrike">
                <a:latin typeface="Arial"/>
              </a:rPr>
              <a:t>* &lt;=1.5m</a:t>
            </a:r>
            <a:r>
              <a:rPr b="0" lang="zh-CN" sz="1800" spc="-1" strike="noStrike">
                <a:latin typeface="Arial"/>
              </a:rPr>
              <a:t>：</a:t>
            </a:r>
            <a:r>
              <a:rPr b="0" lang="en-US" sz="1800" spc="-1" strike="noStrike">
                <a:latin typeface="Arial"/>
              </a:rPr>
              <a:t>PD</a:t>
            </a:r>
            <a:r>
              <a:rPr b="0" lang="zh-CN" sz="1800" spc="-1" strike="noStrike">
                <a:latin typeface="Arial"/>
              </a:rPr>
              <a:t>控制器控制（精准定位效果更好），防止</a:t>
            </a:r>
            <a:r>
              <a:rPr b="0" lang="en-US" sz="1800" spc="-1" strike="noStrike">
                <a:latin typeface="Arial"/>
              </a:rPr>
              <a:t>Pure Pursuit</a:t>
            </a:r>
            <a:r>
              <a:rPr b="0" lang="zh-CN" sz="1800" spc="-1" strike="noStrike">
                <a:latin typeface="Arial"/>
              </a:rPr>
              <a:t>振荡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输入神经网络后输出动作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检验是否到目标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**ALIGN_YAW_1**</a:t>
            </a:r>
            <a:r>
              <a:rPr b="0" lang="zh-CN" sz="1800" spc="-1" strike="noStrike">
                <a:latin typeface="Arial"/>
              </a:rPr>
              <a:t>：使机器人朝向为</a:t>
            </a:r>
            <a:r>
              <a:rPr b="0" lang="en-US" sz="1800" spc="-1" strike="noStrike">
                <a:latin typeface="Arial"/>
              </a:rPr>
              <a:t>+Y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计算朝向误差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PD</a:t>
            </a:r>
            <a:r>
              <a:rPr b="0" lang="zh-CN" sz="1800" spc="-1" strike="noStrike">
                <a:latin typeface="Arial"/>
              </a:rPr>
              <a:t>控制角速度命令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**PAN_VX&amp;PAN_VY**</a:t>
            </a:r>
            <a:r>
              <a:rPr b="0" lang="zh-CN" sz="1800" spc="-1" strike="noStrike">
                <a:latin typeface="Arial"/>
              </a:rPr>
              <a:t>：平移到目标点（实测比同时向两个方向移动的精度要高），且这里都是用平移速度，没有用角速度命令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**ALIGN_YAW**</a:t>
            </a:r>
            <a:r>
              <a:rPr b="0" lang="zh-CN" sz="1800" spc="-1" strike="noStrike">
                <a:latin typeface="Arial"/>
              </a:rPr>
              <a:t>：再次对齐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"/>
          <p:cNvSpPr/>
          <p:nvPr/>
        </p:nvSpPr>
        <p:spPr>
          <a:xfrm>
            <a:off x="682200" y="50544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工作情况（状态机抓取阶段</a:t>
            </a:r>
            <a:r>
              <a:rPr b="1" lang="en-US" sz="2000" spc="-1" strike="noStrike">
                <a:solidFill>
                  <a:srgbClr val="000000"/>
                </a:solidFill>
                <a:latin typeface="等线"/>
                <a:ea typeface="DejaVu Sans"/>
              </a:rPr>
              <a:t>1</a:t>
            </a: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）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080000" y="1594440"/>
            <a:ext cx="9179640" cy="39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**ARM_INIT**</a:t>
            </a:r>
            <a:r>
              <a:rPr b="0" lang="zh-CN" sz="1800" spc="-1" strike="noStrike">
                <a:latin typeface="Arial"/>
              </a:rPr>
              <a:t>：把机械臂各关节调到预工作角度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ARM_SIDE_ANGLES   = np.array([-math.pi/2, 1.5, -1.5, 0.0, 1.2, 0.0])</a:t>
            </a:r>
            <a:r>
              <a:rPr b="0" lang="zh-CN" sz="1800" spc="-1" strike="noStrike">
                <a:latin typeface="Arial"/>
              </a:rPr>
              <a:t>，这里让机械臂</a:t>
            </a:r>
            <a:r>
              <a:rPr b="0" lang="en-US" sz="1800" spc="-1" strike="noStrike">
                <a:latin typeface="Arial"/>
              </a:rPr>
              <a:t>j1</a:t>
            </a:r>
            <a:r>
              <a:rPr b="0" lang="zh-CN" sz="1800" spc="-1" strike="noStrike">
                <a:latin typeface="Arial"/>
              </a:rPr>
              <a:t>旋转到面向桌子的方向，其他关节调试到合理角度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**SCAN**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拍</a:t>
            </a:r>
            <a:r>
              <a:rPr b="0" lang="en-US" sz="1800" spc="-1" strike="noStrike">
                <a:latin typeface="Arial"/>
              </a:rPr>
              <a:t>RGB</a:t>
            </a:r>
            <a:r>
              <a:rPr b="0" lang="zh-CN" sz="1800" spc="-1" strike="noStrike">
                <a:latin typeface="Arial"/>
              </a:rPr>
              <a:t>图，目测香蕉位置和相机的安装有没有问题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累积深度图，后面用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计算光心</a:t>
            </a:r>
            <a:r>
              <a:rPr b="0" lang="en-US" sz="1800" spc="-1" strike="noStrike">
                <a:latin typeface="Arial"/>
              </a:rPr>
              <a:t>-</a:t>
            </a:r>
            <a:r>
              <a:rPr b="0" lang="zh-CN" sz="1800" spc="-1" strike="noStrike">
                <a:latin typeface="Arial"/>
              </a:rPr>
              <a:t>香蕉连线和光轴的夹角判断香蕉偏移程度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**GRASP_PLAN**</a:t>
            </a:r>
            <a:r>
              <a:rPr b="0" lang="zh-CN" sz="1800" spc="-1" strike="noStrike">
                <a:latin typeface="Arial"/>
              </a:rPr>
              <a:t>：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构建点云（去桌面）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调用</a:t>
            </a:r>
            <a:r>
              <a:rPr b="0" lang="en-US" sz="1800" spc="-1" strike="noStrike">
                <a:latin typeface="Arial"/>
              </a:rPr>
              <a:t>Anygrasp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香蕉颜色筛选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ik</a:t>
            </a:r>
            <a:r>
              <a:rPr b="0" lang="zh-CN" sz="1800" spc="-1" strike="noStrike">
                <a:latin typeface="Arial"/>
              </a:rPr>
              <a:t>预筛选（不带</a:t>
            </a:r>
            <a:r>
              <a:rPr b="0" lang="en-US" sz="1800" spc="-1" strike="noStrike">
                <a:latin typeface="Arial"/>
              </a:rPr>
              <a:t>roll search</a:t>
            </a:r>
            <a:r>
              <a:rPr b="0" lang="zh-CN" sz="1800" spc="-1" strike="noStrike">
                <a:latin typeface="Arial"/>
              </a:rPr>
              <a:t>）</a:t>
            </a:r>
            <a:r>
              <a:rPr b="0" lang="en-US" sz="1800" spc="-1" strike="noStrike">
                <a:latin typeface="Arial"/>
              </a:rPr>
              <a:t>+</a:t>
            </a:r>
            <a:r>
              <a:rPr b="0" lang="zh-CN" sz="1800" spc="-1" strike="noStrike">
                <a:latin typeface="Arial"/>
              </a:rPr>
              <a:t>候选排序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文本框 9"/>
          <p:cNvSpPr/>
          <p:nvPr/>
        </p:nvSpPr>
        <p:spPr>
          <a:xfrm>
            <a:off x="682200" y="50544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工作情况（状态机抓取阶段</a:t>
            </a:r>
            <a:r>
              <a:rPr b="1" lang="en-US" sz="2000" spc="-1" strike="noStrike">
                <a:solidFill>
                  <a:srgbClr val="000000"/>
                </a:solidFill>
                <a:latin typeface="等线"/>
                <a:ea typeface="DejaVu Sans"/>
              </a:rPr>
              <a:t>2</a:t>
            </a: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）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080000" y="1594440"/>
            <a:ext cx="917964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**PRE_GRASP**</a:t>
            </a:r>
            <a:r>
              <a:rPr b="0" lang="zh-CN" sz="1800" spc="-1" strike="noStrike">
                <a:latin typeface="Arial"/>
              </a:rPr>
              <a:t>：将机械臂从扫描姿态平滑移动到抓取预备位置，同时张开夹爪到合适宽度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IK </a:t>
            </a:r>
            <a:r>
              <a:rPr b="0" lang="zh-CN" sz="1800" spc="-1" strike="noStrike">
                <a:latin typeface="Arial"/>
              </a:rPr>
              <a:t>求解（带 </a:t>
            </a:r>
            <a:r>
              <a:rPr b="0" lang="en-US" sz="1800" spc="-1" strike="noStrike">
                <a:latin typeface="Arial"/>
              </a:rPr>
              <a:t>roll search</a:t>
            </a:r>
            <a:r>
              <a:rPr b="0" lang="zh-CN" sz="1800" spc="-1" strike="noStrike">
                <a:latin typeface="Arial"/>
              </a:rPr>
              <a:t>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所有关节误差 </a:t>
            </a:r>
            <a:r>
              <a:rPr b="0" lang="en-US" sz="1800" spc="-1" strike="noStrike">
                <a:latin typeface="Arial"/>
              </a:rPr>
              <a:t>&lt; 0.05 rad </a:t>
            </a:r>
            <a:r>
              <a:rPr b="0" lang="zh-CN" sz="1800" spc="-1" strike="noStrike">
                <a:latin typeface="Arial"/>
              </a:rPr>
              <a:t>且至少运行了 </a:t>
            </a:r>
            <a:r>
              <a:rPr b="0" lang="en-US" sz="1800" spc="-1" strike="noStrike">
                <a:latin typeface="Arial"/>
              </a:rPr>
              <a:t>150 </a:t>
            </a:r>
            <a:r>
              <a:rPr b="0" lang="zh-CN" sz="1800" spc="-1" strike="noStrike">
                <a:latin typeface="Arial"/>
              </a:rPr>
              <a:t>步时，提前退出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验收：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位置误差 ≤ </a:t>
            </a:r>
            <a:r>
              <a:rPr b="0" lang="en-US" sz="1800" spc="-1" strike="noStrike">
                <a:latin typeface="Arial"/>
              </a:rPr>
              <a:t>PRE_GRASP_MAX_WORLD_ERR</a:t>
            </a:r>
            <a:r>
              <a:rPr b="0" lang="zh-CN" sz="1800" spc="-1" strike="noStrike">
                <a:latin typeface="Arial"/>
              </a:rPr>
              <a:t>（</a:t>
            </a:r>
            <a:r>
              <a:rPr b="0" lang="en-US" sz="1800" spc="-1" strike="noStrike">
                <a:latin typeface="Arial"/>
              </a:rPr>
              <a:t>0.10m</a:t>
            </a:r>
            <a:r>
              <a:rPr b="0" lang="zh-CN" sz="1800" spc="-1" strike="noStrike">
                <a:latin typeface="Arial"/>
              </a:rPr>
              <a:t>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最大关节误差 ≤ </a:t>
            </a:r>
            <a:r>
              <a:rPr b="0" lang="en-US" sz="1800" spc="-1" strike="noStrike">
                <a:latin typeface="Arial"/>
              </a:rPr>
              <a:t>PRE_GRASP_MAX_JOINT_ERR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旋转误差 ≤ </a:t>
            </a:r>
            <a:r>
              <a:rPr b="0" lang="en-US" sz="1800" spc="-1" strike="noStrike">
                <a:latin typeface="Arial"/>
              </a:rPr>
              <a:t>PRE_GRASP_MAX_ROT_ERR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**ORIENT**</a:t>
            </a:r>
            <a:r>
              <a:rPr b="0" lang="zh-CN" sz="1800" spc="-1" strike="noStrike">
                <a:latin typeface="Arial"/>
              </a:rPr>
              <a:t>：根据</a:t>
            </a:r>
            <a:r>
              <a:rPr b="0" lang="en-US" sz="1800" spc="-1" strike="noStrike">
                <a:latin typeface="Arial"/>
              </a:rPr>
              <a:t>closing</a:t>
            </a:r>
            <a:r>
              <a:rPr b="0" lang="zh-CN" sz="1800" spc="-1" strike="noStrike">
                <a:latin typeface="Arial"/>
              </a:rPr>
              <a:t>旋转</a:t>
            </a:r>
            <a:r>
              <a:rPr b="0" lang="en-US" sz="1800" spc="-1" strike="noStrike">
                <a:latin typeface="Arial"/>
              </a:rPr>
              <a:t>j6</a:t>
            </a:r>
            <a:r>
              <a:rPr b="0" lang="zh-CN" sz="1800" spc="-1" strike="noStrike">
                <a:latin typeface="Arial"/>
              </a:rPr>
              <a:t>（仅调整</a:t>
            </a:r>
            <a:r>
              <a:rPr b="0" lang="en-US" sz="1800" spc="-1" strike="noStrike">
                <a:latin typeface="Arial"/>
              </a:rPr>
              <a:t>j6</a:t>
            </a:r>
            <a:r>
              <a:rPr b="0" lang="zh-CN" sz="1800" spc="-1" strike="noStrike">
                <a:latin typeface="Arial"/>
              </a:rPr>
              <a:t>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**CLOSE&amp;LIFT**</a:t>
            </a:r>
            <a:r>
              <a:rPr b="0" lang="zh-CN" sz="1800" spc="-1" strike="noStrike">
                <a:latin typeface="Arial"/>
              </a:rPr>
              <a:t>：闭合夹爪，抓起香蕉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**DONE**</a:t>
            </a:r>
            <a:r>
              <a:rPr b="0" lang="zh-CN" sz="1800" spc="-1" strike="noStrike">
                <a:latin typeface="Arial"/>
              </a:rPr>
              <a:t>：检测香蕉</a:t>
            </a:r>
            <a:r>
              <a:rPr b="0" lang="en-US" sz="1800" spc="-1" strike="noStrike">
                <a:latin typeface="Arial"/>
              </a:rPr>
              <a:t>z&gt;0.75m</a:t>
            </a:r>
            <a:r>
              <a:rPr b="0" lang="zh-CN" sz="1800" spc="-1" strike="noStrike">
                <a:latin typeface="Arial"/>
              </a:rPr>
              <a:t>就算成功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文本框 11"/>
          <p:cNvSpPr/>
          <p:nvPr/>
        </p:nvSpPr>
        <p:spPr>
          <a:xfrm>
            <a:off x="682200" y="505440"/>
            <a:ext cx="6877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zh-CN" sz="2000" spc="-1" strike="noStrike">
                <a:solidFill>
                  <a:srgbClr val="000000"/>
                </a:solidFill>
                <a:latin typeface="等线"/>
                <a:ea typeface="DejaVu Sans"/>
              </a:rPr>
              <a:t>未来工作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080000" y="1594440"/>
            <a:ext cx="917964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Nav2</a:t>
            </a:r>
            <a:r>
              <a:rPr b="0" lang="zh-CN" sz="1800" spc="-1" strike="noStrike">
                <a:latin typeface="Arial"/>
              </a:rPr>
              <a:t>模块正在引入中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希望获得一些计算资源有助于未来研究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方向展望：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关于多地形行走或者带任务行走（如利用道具、有多阶段任务等）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关于机械臂控制：是否进一步研究</a:t>
            </a:r>
            <a:r>
              <a:rPr b="0" lang="en-US" sz="1800" spc="-1" strike="noStrike">
                <a:latin typeface="Arial"/>
              </a:rPr>
              <a:t>ACT</a:t>
            </a:r>
            <a:r>
              <a:rPr b="0" lang="zh-CN" sz="1800" spc="-1" strike="noStrike">
                <a:latin typeface="Arial"/>
              </a:rPr>
              <a:t>和</a:t>
            </a:r>
            <a:r>
              <a:rPr b="0" lang="en-US" sz="1800" spc="-1" strike="noStrike">
                <a:latin typeface="Arial"/>
              </a:rPr>
              <a:t>Diffusion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关于机械臂研究：</a:t>
            </a:r>
            <a:r>
              <a:rPr b="0" lang="en-US" sz="1800" spc="-1" strike="noStrike">
                <a:latin typeface="Arial"/>
              </a:rPr>
              <a:t>VLA</a:t>
            </a:r>
            <a:r>
              <a:rPr b="0" lang="zh-CN" sz="1800" spc="-1" strike="noStrike">
                <a:latin typeface="Arial"/>
              </a:rPr>
              <a:t>、世界模型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    </a:t>
            </a:r>
            <a:r>
              <a:rPr b="0" lang="en-US" sz="1800" spc="-1" strike="noStrike">
                <a:latin typeface="Arial"/>
              </a:rPr>
              <a:t>* </a:t>
            </a:r>
            <a:r>
              <a:rPr b="0" lang="zh-CN" sz="1800" spc="-1" strike="noStrike">
                <a:latin typeface="Arial"/>
              </a:rPr>
              <a:t>有什么方向指导，或者能否给一个相关的小课题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Application>LibreOffice/7.3.7.2$Linux_X86_64 LibreOffice_project/30$Build-2</Application>
  <AppVersion>15.0000</AppVersion>
  <Words>94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2026-09-07T12:10:20Z</dcterms:created>
  <dc:creator>七 七</dc:creator>
  <dc:description/>
  <dc:language>zh-CN</dc:language>
  <cp:lastModifiedBy/>
  <dcterms:modified xsi:type="dcterms:W3CDTF">2026-09-08T19:28:37Z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i4>4</vt:i4>
  </property>
</Properties>
</file>